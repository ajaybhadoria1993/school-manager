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6459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SIGN-OFF WORKSHOP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 Management &amp; ERP SaaS Platform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251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Workshop — Sessions 1, 2 &amp; 3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3774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  |  Project Coordinator &amp; Technical Lead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We're Here Today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&amp; Functional Requirements are drafted. This workshop turns them into a signed-off blueprint the build team can execute against — no assumptions, no surprises during UAT.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246120" cy="3108960"/>
          </a:xfrm>
          <a:prstGeom prst="roundRect">
            <a:avLst>
              <a:gd name="adj" fmla="val 2353"/>
            </a:avLst>
          </a:prstGeom>
          <a:solidFill>
            <a:srgbClr val="F4F6F8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7889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88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Scope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25196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10 functional modules and role permissions match real operations.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0" y="2514600"/>
            <a:ext cx="3246120" cy="3108960"/>
          </a:xfrm>
          <a:prstGeom prst="roundRect">
            <a:avLst>
              <a:gd name="adj" fmla="val 2353"/>
            </a:avLst>
          </a:prstGeom>
          <a:solidFill>
            <a:srgbClr val="F4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27889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2788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89120" y="37947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 Scenarios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389120" y="425196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60+ real-world edge cases and decide expected system behavior.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80960" y="2514600"/>
            <a:ext cx="3246120" cy="3108960"/>
          </a:xfrm>
          <a:prstGeom prst="roundRect">
            <a:avLst>
              <a:gd name="adj" fmla="val 2353"/>
            </a:avLst>
          </a:prstGeom>
          <a:solidFill>
            <a:srgbClr val="F4F6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955280" y="27889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2788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955280" y="37947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Sign-Off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955280" y="425196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with a finalized BRD/FRD and a green light for the build team to start.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Sign-Off Workshop  •  School ERP SaaS Platform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at a Glance — 3 Sessions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5740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560320" y="1965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Financial &amp; Family Scenarios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560320" y="2395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collection, admissions &amp; siblings, compliance &amp; privacy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509760" y="182880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8F1F5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47472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74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60320" y="3383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Operations &amp; Documents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560320" y="381304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exams &amp; report cards, statutory documents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509760" y="324612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489204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892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560320" y="4800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Communication, Platform &amp; Mobile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560320" y="523036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Notifications, multi-tenant admin, mobile app edge cases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509760" y="46634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Sign-Off Workshop  •  School ERP SaaS Platform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MVP — 10 Functional Modules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dive into scenarios — confirm nothing critical is missing.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176272"/>
            <a:ext cx="237744" cy="23774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96596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School Setup &amp; Configuration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6464808" y="2176272"/>
            <a:ext cx="237744" cy="23774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196596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Student &amp; Family Lifecycle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770632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2980944"/>
            <a:ext cx="237744" cy="23774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2770632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Staff &amp; HR Management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2770632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64808" y="2980944"/>
            <a:ext cx="237744" cy="23774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2770632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Attendance &amp; Leave Tracking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575304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" y="3785616"/>
            <a:ext cx="237744" cy="23774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3575304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Indian School Fee Engine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63640" y="3575304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</p:spPr>
      </p:sp>
      <p:sp>
        <p:nvSpPr>
          <p:cNvPr id="22" name="Shape 20"/>
          <p:cNvSpPr/>
          <p:nvPr/>
        </p:nvSpPr>
        <p:spPr>
          <a:xfrm>
            <a:off x="6464808" y="3785616"/>
            <a:ext cx="237744" cy="23774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3575304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Academics, Exams &amp; Grading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379976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4590288"/>
            <a:ext cx="237744" cy="23774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1143000" y="4379976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Integrated Communication Hub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63640" y="4379976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6464808" y="4590288"/>
            <a:ext cx="237744" cy="23774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4379976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Statutory Documents &amp; Certificates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5184648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</p:spPr>
      </p:sp>
      <p:sp>
        <p:nvSpPr>
          <p:cNvPr id="31" name="Shape 29"/>
          <p:cNvSpPr/>
          <p:nvPr/>
        </p:nvSpPr>
        <p:spPr>
          <a:xfrm>
            <a:off x="749808" y="5394960"/>
            <a:ext cx="237744" cy="23774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2" name="Text 30"/>
          <p:cNvSpPr/>
          <p:nvPr/>
        </p:nvSpPr>
        <p:spPr>
          <a:xfrm>
            <a:off x="1143000" y="5184648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Parent &amp; Student Mobile App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63640" y="5184648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</p:spPr>
      </p:sp>
      <p:sp>
        <p:nvSpPr>
          <p:cNvPr id="34" name="Shape 32"/>
          <p:cNvSpPr/>
          <p:nvPr/>
        </p:nvSpPr>
        <p:spPr>
          <a:xfrm>
            <a:off x="6464808" y="5394960"/>
            <a:ext cx="237744" cy="23774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0" y="5184648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SaaS Super Admin Control Panel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Sign-Off Workshop  •  School ERP SaaS Platform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DECIDE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Scenario Ends in One of Three Outcomes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291840" cy="3017520"/>
          </a:xfrm>
          <a:prstGeom prst="roundRect">
            <a:avLst>
              <a:gd name="adj" fmla="val 2424"/>
            </a:avLst>
          </a:prstGeom>
          <a:solidFill>
            <a:srgbClr val="2C376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94560"/>
            <a:ext cx="3291840" cy="109728"/>
          </a:xfrm>
          <a:prstGeom prst="roundRect">
            <a:avLst/>
          </a:prstGeom>
          <a:solidFill>
            <a:srgbClr val="3EA66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14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Confirmed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2743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agreed as documented. Locked into the FRD — no further discussion needed.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60520" y="2194560"/>
            <a:ext cx="3291840" cy="3017520"/>
          </a:xfrm>
          <a:prstGeom prst="roundRect">
            <a:avLst>
              <a:gd name="adj" fmla="val 2424"/>
            </a:avLst>
          </a:prstGeom>
          <a:solidFill>
            <a:srgbClr val="2C3768"/>
          </a:solidFill>
          <a:ln/>
        </p:spPr>
      </p:sp>
      <p:sp>
        <p:nvSpPr>
          <p:cNvPr id="10" name="Shape 8"/>
          <p:cNvSpPr/>
          <p:nvPr/>
        </p:nvSpPr>
        <p:spPr>
          <a:xfrm>
            <a:off x="4160520" y="2194560"/>
            <a:ext cx="3291840" cy="109728"/>
          </a:xfrm>
          <a:prstGeom prst="round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2514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Change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434840" y="3108960"/>
            <a:ext cx="2743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wants different behavior. Captured live and folded into an updated FRD before sign-off.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2194560"/>
            <a:ext cx="3291840" cy="3017520"/>
          </a:xfrm>
          <a:prstGeom prst="roundRect">
            <a:avLst>
              <a:gd name="adj" fmla="val 2424"/>
            </a:avLst>
          </a:prstGeom>
          <a:solidFill>
            <a:srgbClr val="2C3768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0" y="2194560"/>
            <a:ext cx="3291840" cy="109728"/>
          </a:xfrm>
          <a:prstGeom prst="roundRect">
            <a:avLst/>
          </a:prstGeom>
          <a:solidFill>
            <a:srgbClr val="8A93A6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2514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046720" y="3108960"/>
            <a:ext cx="2743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idea, not Phase 1. Logged as a Phase 2 backlog item — not silently dropped.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Sign-Off Workshop  •  School ERP SaaS Platform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377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Financial &amp; Family Scenarios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377647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611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collection — reconciliation, partial payments, cheque bounce, refunds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423367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40690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&amp; siblings — multi-branch families, guardian access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469087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5262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data privacy — consent, DPDP erasure, audit access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Sign-Off Workshop  •  School ERP SaaS Platform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 Collection — Key Decisions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984248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8424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S-5.3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00200" y="187452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cheque bounces after a receipt was already issued — how is it reversed, and are bounce charges automatic or manual?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081528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8152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S-5.5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00200" y="297180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 wants a refund after withdrawal — does the system handle this, or is it processed manually outside the platform?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178808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17880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S-5.6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00200" y="406908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fee after due date — is it fully automatic, and can the Accountant waive it per transaction?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5276088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27608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S-5.2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00200" y="516636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parent pay a partial installment, and how does the outstanding balance update?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Sign-Off Workshop  •  School ERP SaaS Platform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Admissions &amp; Family — Key Decisions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984248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8424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S-2.2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00200" y="187452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 has children across two different branches — should sibling switching work across branches, not just within one?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081528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8152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S-2.3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00200" y="297180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guardian is active in-system — how is consent (e.g., APAAR) recorded when the second guardian isn't onboarded?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178808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17880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S-2.6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00200" y="406908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guardian's access needs to be revoked (custody change) — what is the authorization process?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5276088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27608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S-2.7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00200" y="516636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duplicate student record is created by mistake — how is it merged without losing fee/attendance history?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Sign-Off Workshop  •  School ERP SaaS Platform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&amp; Data Privacy — Key Decisions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984248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8424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S-9.1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00200" y="187452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 withdraws APAAR consent after granting it — is this legally reversible once submitted to UDISE+?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081528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8152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S-9.2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00200" y="297180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 requests full data erasure post-withdrawal (DPDP) — how does this reconcile with statutory record retention (e.g., TC records)?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178808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17880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S-9.3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00200" y="406908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case of a data breach, what is the notification workflow to affected schools and parents, and within what timeframe?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5276088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27608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S-9.4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00200" y="516636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 to Aadhaar/PAN fields — is this captured and alerted on automatically?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Sign-Off Workshop  •  School ERP SaaS Platform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377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Operations &amp; Documents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377647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611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— backfilling, corrections, medical leave handling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423367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40690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Academics &amp; exams — marks correction, report card versioning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469087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5262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documents — TC-hold policy, re-issuance, expedited requests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Sign-Off Workshop  •  School ERP SaaS Platform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&amp; Examinations — Key Decisions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984248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8424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S-4.5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00200" y="187452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long medical leave, should attendance % exclude approved leave from the denominator, or count against the student?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081528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8152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S-6.2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00200" y="297180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is absent for an exam — how should this appear on the report card (blank, AB, zero, excluded)?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178808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17880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S-6.4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00200" y="406908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the school be able to withhold a report card if fees are outstanding — is this a configurable policy toggle?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5276088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27608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S-6.5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00200" y="516636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published report card needs correction after a grading error — how is the revised version tracked and communicated?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Sign-Off Workshop  •  School ERP SaaS Platform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Statutory Documents — Key Decisions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984248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8424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S-8.1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00200" y="187452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Transfer Certificate generation be blocked until dues are cleared? Is this configurable per school?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081528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8152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S-8.2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00200" y="297180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TC is issued with an error — is re-issuance version-controlled, and is the serial number reused or reissued?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178808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17880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S-8.3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00200" y="406908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 expedited Bonafide Certificate flow for urgent needs (e.g., visa applications)?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5276088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27608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S-8.4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00200" y="516636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ID card mid-year — is reprint self-service or does it require Admin approval?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Sign-Off Workshop  •  School ERP SaaS Platform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377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Communication, Platform &amp; Mobile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377647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611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— WhatsApp/SMS fallback, delivery disputes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423367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40690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admin — subscription lapse, tier upgrades, data export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469087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5262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— feature phone fallback, offline behavior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Sign-Off Workshop  •  School ERP SaaS Platform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Communication, Platform &amp; Mobile — Key Decisions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984248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8424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S-7.1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00200" y="187452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delivery fails for a parent — does the system auto-fallback to SMS, and how fast?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081528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8152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S-10.1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00200" y="297180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school's subscription lapses — is access revoked immediately, or is there a grace period with read-only access?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178808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17880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S-10.5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00200" y="406908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schools be able to self-service export all their data before terminating a subscription?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5276088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27608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S-11.1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00200" y="516636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parents without smartphones, is there an SMS-only path to stay informed and pay fees?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Sign-Off Workshop  •  School ERP SaaS Platform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Items Needing a Decision Today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99339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 Live-Tracking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Mentioned in Premium tier pricing but not scoped as a functional module. Phase 1 or Phase 2?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20116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78040" y="199339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Library, Hostel &amp; Canteen/POS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260604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referenced in the original blueprint. Confirm these stay out of scope for Phase 1.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1879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Departed Student Data Retention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480060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is a student's data retained post-TC issuance? Needs a defined policy aligned to board record-keeping norms.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39319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537960" y="42062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78040" y="41879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APAAR / DigiLocker Live Integration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37960" y="480060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scoped as field-capture only. Confirm live API integration is explicitly Phase 2.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Sign-Off Workshop  •  School ERP SaaS Platform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This Workshop to Development Start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4F6F8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4231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 Completed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374904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scenario marked Confirmed, Needs Change, or Out of Scope.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063240" y="33832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91840" y="219456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4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3520440" y="24231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0440" y="31546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BRD / FRD Updated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20440" y="374904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updates documents to reflect all Needs Change items.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806440" y="33832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35040" y="219456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6263640" y="24231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63640" y="31546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 Sign-Off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263640" y="374904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confirms final BRD/FRD via signature or written confirmation.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9640" y="33832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778240" y="219456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065A82"/>
          </a:solidFill>
          <a:ln/>
        </p:spPr>
      </p:sp>
      <p:sp>
        <p:nvSpPr>
          <p:cNvPr id="24" name="Shape 22"/>
          <p:cNvSpPr/>
          <p:nvPr/>
        </p:nvSpPr>
        <p:spPr>
          <a:xfrm>
            <a:off x="9006840" y="242316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/>
          <p:nvPr/>
        </p:nvSpPr>
        <p:spPr>
          <a:xfrm>
            <a:off x="90068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006840" y="31546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Begins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006840" y="374904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 and sprint planning kick off immediately.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Sign-Off Workshop  •  School ERP SaaS Platform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IT RIGHT, TOGETHER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Open Discussion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made today becomes the foundation of the signed-off BRD/FRD.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Sign-Off Workshop  •  School ERP SaaS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2026-08-18T20:42:22Z</dcterms:created>
  <dcterms:modified xsi:type="dcterms:W3CDTF">2026-08-18T20:42:22Z</dcterms:modified>
</cp:coreProperties>
</file>